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757"/>
    <a:srgbClr val="414141"/>
    <a:srgbClr val="4A4A4A"/>
    <a:srgbClr val="FFFFFF"/>
    <a:srgbClr val="E4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70" d="100"/>
          <a:sy n="70" d="100"/>
        </p:scale>
        <p:origin x="792" y="24"/>
      </p:cViewPr>
      <p:guideLst/>
    </p:cSldViewPr>
  </p:slideViewPr>
  <p:notesTextViewPr>
    <p:cViewPr>
      <p:scale>
        <a:sx n="35" d="100"/>
        <a:sy n="3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80171-B170-D74B-8D0E-6878E4EF4331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E9C67-FA0B-F14C-9954-F8CF6F344AC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341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TEMPLATE CV — à </a:t>
            </a:r>
            <a:r>
              <a:rPr dirty="0" err="1"/>
              <a:t>personnaliser</a:t>
            </a:r>
            <a:endParaRPr dirty="0"/>
          </a:p>
          <a:p>
            <a:endParaRPr dirty="0"/>
          </a:p>
          <a:p>
            <a:r>
              <a:rPr dirty="0" err="1"/>
              <a:t>Remplacer</a:t>
            </a:r>
            <a:r>
              <a:rPr dirty="0"/>
              <a:t> les champs entre crochets sans modifier la mise </a:t>
            </a:r>
            <a:r>
              <a:rPr dirty="0" err="1"/>
              <a:t>en</a:t>
            </a:r>
            <a:r>
              <a:rPr dirty="0"/>
              <a:t> page.</a:t>
            </a:r>
          </a:p>
          <a:p>
            <a:r>
              <a:rPr dirty="0"/>
              <a:t>Conserver des </a:t>
            </a:r>
            <a:r>
              <a:rPr dirty="0" err="1"/>
              <a:t>textes</a:t>
            </a:r>
            <a:r>
              <a:rPr dirty="0"/>
              <a:t> de longueur comparable aux </a:t>
            </a:r>
            <a:r>
              <a:rPr dirty="0" err="1"/>
              <a:t>exemples</a:t>
            </a:r>
            <a:r>
              <a:rPr dirty="0"/>
              <a:t> pour </a:t>
            </a:r>
            <a:r>
              <a:rPr dirty="0" err="1"/>
              <a:t>préserver</a:t>
            </a:r>
            <a:r>
              <a:rPr dirty="0"/>
              <a:t> le </a:t>
            </a:r>
            <a:r>
              <a:rPr dirty="0" err="1"/>
              <a:t>rendu</a:t>
            </a:r>
            <a:r>
              <a:rPr dirty="0"/>
              <a:t>.</a:t>
            </a:r>
          </a:p>
          <a:p>
            <a:r>
              <a:rPr dirty="0"/>
              <a:t>Les blocs </a:t>
            </a:r>
            <a:r>
              <a:rPr dirty="0" err="1"/>
              <a:t>d'expérience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prévus</a:t>
            </a:r>
            <a:r>
              <a:rPr dirty="0"/>
              <a:t> pour 4 </a:t>
            </a:r>
            <a:r>
              <a:rPr dirty="0" err="1"/>
              <a:t>expériences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.</a:t>
            </a:r>
          </a:p>
          <a:p>
            <a:r>
              <a:rPr dirty="0"/>
              <a:t>Les champs [RÉALISATION </a:t>
            </a:r>
            <a:r>
              <a:rPr dirty="0" err="1"/>
              <a:t>x.y</a:t>
            </a:r>
            <a:r>
              <a:rPr dirty="0"/>
              <a:t>] correspondent aux bullets de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expérience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2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7CACD-C772-D83A-966A-C91905FF1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B8CDF4-4299-EF4E-BAAA-A488AE245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9F2B5C-3FB7-3E83-3509-E42D2638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28412C-18EF-5308-3E12-C5CF6A0BA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A94B46-DDEF-466E-0BD5-3929EE1F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1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B9BEA-D258-E0FE-E50A-3DDA6597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1DE1EE-1494-6D52-ABA9-4551BC5E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7F4373-30A6-A114-6541-106A77D8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80C6B9-0762-11F0-71A3-45598161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F08FEE-4069-FC70-1BCC-3B81CCE3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79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C89843-E198-9C0B-236E-2C66282B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4AFD24-BC6D-907B-9E53-8C7BA76DF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FF1D48-C947-F9CB-DD30-5166910F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410F3B-F2F5-5E9F-2724-29431040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E6B650-8757-C7F7-4CBB-64B65E8B8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17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F9564-B6F0-5254-87D8-F9679FA05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0D7DBA-DB01-2244-DDA4-249AD2242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6D06F2-285E-AF52-DB5B-FBD6F6CFF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DC6172-7362-8621-62CF-468F6D07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30BC6D-8335-6E7D-774C-AC988919C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161EF3-D47F-28F5-D9BF-7B8CA41E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67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AB5F5-BE9D-30EC-3DD8-C688DA3F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A47008-1904-F626-97F9-AACD55549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951B6A-B3C1-E333-79CE-860CA9957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86BEA9-A361-410B-2A44-BC38F01D9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F06CD85-65FD-3874-F24C-64C9E8E79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09BA7F7-F035-5DC2-812D-331B8B1C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297332-D887-DC40-46D3-F7C00AA9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A5FC55-19AE-EC61-21C8-F4972A0B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74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DA27F-F5C4-B3C2-4981-B24192FE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116D20B-08EA-C135-3927-E9BA5959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2940A5-C36D-BF89-9DD3-7C6B7AF9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26E090-EB51-10A2-6D93-50D10F00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67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451E6F-7D08-763F-C8D9-20431884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B76556-DF06-4315-D548-1986CA87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AD37902-F2A1-4BFB-B979-91F620C4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91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5D335E-6001-BBFC-49D0-CFFFF6874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1D7442-37F8-6E11-4543-485801A50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76E24E-0DD9-CD0E-4469-09F4B9133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A75CFC-1BBE-698E-0405-7B259233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AC3B9E-9298-F77C-1E36-206E7BC1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D57AB9-2A6E-D74B-9517-58BDF5FE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8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1CBDD-630B-F943-044F-0718C6DFB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A16E043-DABE-B69D-DE5F-880603C85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23687A-EE6C-0386-62DF-C5CA61E42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8F02C8-2BA0-F92F-3E78-02A05840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4A9D85-2F5D-9C4D-16A0-0B3D7E47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087B88-043E-8A9A-C838-07AF3F54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66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BDB25-6EC3-7B49-3A47-1B6EE582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C6DD9D-2314-7575-731B-6AA5ABDA0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6B201E-C95D-B3FB-832E-C18B4233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A14E20-E0D9-33B3-A681-F75ED10D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B39A67-AEC4-FCFA-CDB4-40F39F42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01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8D4AB2-DEDD-2B28-7B5F-908F697C5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00C7F42-2904-D633-03D6-6F2378586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C853DF-699C-6763-D160-3402FD66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4AF44A-5E91-E8B7-9816-41F4C6576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D33C15-6A6E-2954-2A52-227D50EE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684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22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331DFD2-808F-181D-990B-982E831E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21A4E-0CAF-9674-F791-270FE7D20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910CFF-1A75-43DE-5AD5-26C13CA03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2A807-A954-F94A-B44E-2817F9E31610}" type="datetimeFigureOut">
              <a:rPr lang="en-GB" smtClean="0"/>
              <a:t>20/08/2026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C1BD98-243D-F2FB-0B0F-7062A05CD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8CCFC8-EDE5-B81F-7B0E-528CBF08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FEB74-055A-CD46-8935-603E32565A3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550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71E7A2D-CB20-9A8F-E349-359A69DA921A}"/>
              </a:ext>
            </a:extLst>
          </p:cNvPr>
          <p:cNvSpPr/>
          <p:nvPr/>
        </p:nvSpPr>
        <p:spPr>
          <a:xfrm>
            <a:off x="187605" y="5265978"/>
            <a:ext cx="1864616" cy="1409769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     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Diplômes</a:t>
            </a:r>
            <a:br>
              <a:rPr kumimoji="0" lang="fr-FR" sz="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</a:b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ESSEC Business SchoolMines de Nancy
Ingénieur Civil</a:t>
            </a:r>
            <a:b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</a:br>
            <a:endParaRPr kumimoji="0" lang="fr-FR" sz="9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8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 b="1" dirty="0">
                <a:solidFill>
                  <a:srgbClr val="414141"/>
                </a:solidFill>
                <a:latin typeface="Satoshi" pitchFamily="2" charset="77"/>
              </a:rPr>
              <a:t>Université Paris 1 Panthéon-SorbonneFaculté des Sciences et Technologies, Nancy
Master IMSD</a:t>
            </a:r>
            <a:br>
              <a:rPr lang="fr-FR" sz="900" dirty="0">
                <a:solidFill>
                  <a:srgbClr val="414141"/>
                </a:solidFill>
                <a:latin typeface="Satoshi" pitchFamily="2" charset="77"/>
              </a:rPr>
            </a:br>
            <a:endParaRPr lang="fr-FR" sz="900" dirty="0">
              <a:solidFill>
                <a:srgbClr val="414141"/>
              </a:solidFill>
              <a:latin typeface="Satoshi" pitchFamily="2" charset="77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050" dirty="0" err="1">
              <a:solidFill>
                <a:srgbClr val="414141"/>
              </a:solidFill>
              <a:latin typeface="Satoshi" pitchFamily="2" charset="77"/>
            </a:endParaRP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CA749CD7-72F4-4CF9-190F-6324190782D4}"/>
              </a:ext>
            </a:extLst>
          </p:cNvPr>
          <p:cNvSpPr/>
          <p:nvPr/>
        </p:nvSpPr>
        <p:spPr>
          <a:xfrm>
            <a:off x="4391072" y="135467"/>
            <a:ext cx="7613320" cy="6540280"/>
          </a:xfrm>
          <a:prstGeom prst="roundRect">
            <a:avLst>
              <a:gd name="adj" fmla="val 2057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1700"/>
              </a:lnSpc>
            </a:pPr>
            <a:endParaRPr kumimoji="0" lang="fr-FR" sz="15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AACEF6E8-0C59-C755-9C0B-A938CF3CFA5C}"/>
              </a:ext>
            </a:extLst>
          </p:cNvPr>
          <p:cNvSpPr/>
          <p:nvPr/>
        </p:nvSpPr>
        <p:spPr>
          <a:xfrm>
            <a:off x="189119" y="135467"/>
            <a:ext cx="4004841" cy="2187057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A1086AB7-7BF6-4E55-6127-E6DCBFB4C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1" r="771"/>
          <a:stretch/>
        </p:blipFill>
        <p:spPr>
          <a:xfrm>
            <a:off x="304799" y="328742"/>
            <a:ext cx="1747422" cy="1774800"/>
          </a:xfrm>
          <a:prstGeom prst="roundRect">
            <a:avLst>
              <a:gd name="adj" fmla="val 5006"/>
            </a:avLst>
          </a:prstGeom>
        </p:spPr>
      </p:pic>
      <p:sp>
        <p:nvSpPr>
          <p:cNvPr id="46" name="Text 30">
            <a:extLst>
              <a:ext uri="{FF2B5EF4-FFF2-40B4-BE49-F238E27FC236}">
                <a16:creationId xmlns:a16="http://schemas.microsoft.com/office/drawing/2014/main" id="{558E9EE8-E43B-CA70-D00B-4E863D6E8C98}"/>
              </a:ext>
            </a:extLst>
          </p:cNvPr>
          <p:cNvSpPr/>
          <p:nvPr/>
        </p:nvSpPr>
        <p:spPr>
          <a:xfrm>
            <a:off x="2247900" y="426430"/>
            <a:ext cx="16637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50"/>
              </a:lnSpc>
            </a:pPr>
            <a:r>
              <a:rPr lang="en-US" sz="1500" b="1" dirty="0">
                <a:solidFill>
                  <a:srgbClr val="414141"/>
                </a:solidFill>
                <a:latin typeface="Satoshi Regular"/>
                <a:ea typeface="Satoshi Regular"/>
              </a:rPr>
              <a:t>Mathurin</a:t>
            </a:r>
            <a:endParaRPr lang="fr-FR" sz="1200" b="1" dirty="0">
              <a:solidFill>
                <a:srgbClr val="414141"/>
              </a:solidFill>
            </a:endParaRPr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D4ABE70C-94E6-EFFA-5142-F6A199996AD5}"/>
              </a:ext>
            </a:extLst>
          </p:cNvPr>
          <p:cNvSpPr/>
          <p:nvPr/>
        </p:nvSpPr>
        <p:spPr>
          <a:xfrm>
            <a:off x="2247900" y="750280"/>
            <a:ext cx="16637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50"/>
              </a:lnSpc>
            </a:pPr>
            <a:endParaRPr lang="en-US" sz="1500" b="1" dirty="0">
              <a:solidFill>
                <a:srgbClr val="414141"/>
              </a:solidFill>
              <a:cs typeface="Calibri"/>
            </a:endParaRPr>
          </a:p>
        </p:txBody>
      </p:sp>
      <p:sp>
        <p:nvSpPr>
          <p:cNvPr id="48" name="Text 32">
            <a:extLst>
              <a:ext uri="{FF2B5EF4-FFF2-40B4-BE49-F238E27FC236}">
                <a16:creationId xmlns:a16="http://schemas.microsoft.com/office/drawing/2014/main" id="{340FF59F-AE8B-F505-0949-9C270ECC3371}"/>
              </a:ext>
            </a:extLst>
          </p:cNvPr>
          <p:cNvSpPr/>
          <p:nvPr/>
        </p:nvSpPr>
        <p:spPr>
          <a:xfrm>
            <a:off x="2247901" y="1136504"/>
            <a:ext cx="1288816" cy="35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500" dirty="0">
              <a:latin typeface="Satoshi" pitchFamily="2" charset="77"/>
            </a:endParaRP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8DBEC1CE-AF35-D57B-B653-FC7838B69228}"/>
              </a:ext>
            </a:extLst>
          </p:cNvPr>
          <p:cNvSpPr/>
          <p:nvPr/>
        </p:nvSpPr>
        <p:spPr>
          <a:xfrm>
            <a:off x="2180529" y="1614731"/>
            <a:ext cx="1747423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1050" dirty="0">
              <a:solidFill>
                <a:srgbClr val="414141"/>
              </a:solidFill>
              <a:latin typeface="Satoshi" pitchFamily="2" charset="77"/>
            </a:endParaRP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6F8B6454-9E14-CC27-5CAA-26F4F8CE724A}"/>
              </a:ext>
            </a:extLst>
          </p:cNvPr>
          <p:cNvSpPr/>
          <p:nvPr/>
        </p:nvSpPr>
        <p:spPr>
          <a:xfrm>
            <a:off x="187608" y="2434871"/>
            <a:ext cx="1085608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#Calcul Stochastique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6A588A5-CC12-973D-2991-E547F356EC9D}"/>
              </a:ext>
            </a:extLst>
          </p:cNvPr>
          <p:cNvSpPr/>
          <p:nvPr/>
        </p:nvSpPr>
        <p:spPr>
          <a:xfrm>
            <a:off x="1335914" y="2434871"/>
            <a:ext cx="911986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#Modélisation Statistique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B41B0B24-6826-5D5F-9BEC-E5F029CEE357}"/>
              </a:ext>
            </a:extLst>
          </p:cNvPr>
          <p:cNvSpPr/>
          <p:nvPr/>
        </p:nvSpPr>
        <p:spPr>
          <a:xfrm>
            <a:off x="2298645" y="2442591"/>
            <a:ext cx="923002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#Supraconducteurs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AD607AE4-D235-6B8C-8C52-5677C3C3106C}"/>
              </a:ext>
            </a:extLst>
          </p:cNvPr>
          <p:cNvSpPr/>
          <p:nvPr/>
        </p:nvSpPr>
        <p:spPr>
          <a:xfrm>
            <a:off x="3264524" y="2434871"/>
            <a:ext cx="923002" cy="357232"/>
          </a:xfrm>
          <a:prstGeom prst="roundRect">
            <a:avLst>
              <a:gd name="adj" fmla="val 50000"/>
            </a:avLst>
          </a:prstGeom>
          <a:solidFill>
            <a:srgbClr val="E4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rgbClr val="414141"/>
                </a:solidFill>
                <a:latin typeface="Satoshi" pitchFamily="2" charset="77"/>
              </a:rPr>
              <a:t>#Théorie des Jeux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0DC3381E-5CDF-CD68-E6C3-AFBC9EDB6A85}"/>
              </a:ext>
            </a:extLst>
          </p:cNvPr>
          <p:cNvSpPr/>
          <p:nvPr/>
        </p:nvSpPr>
        <p:spPr>
          <a:xfrm>
            <a:off x="182685" y="2913925"/>
            <a:ext cx="4004841" cy="2242272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1700"/>
              </a:lnSpc>
            </a:pPr>
            <a:r>
              <a:rPr lang="en-GB" sz="1050" dirty="0">
                <a:solidFill>
                  <a:schemeClr val="tx1"/>
                </a:solidFill>
                <a:latin typeface="Satoshi" pitchFamily="2" charset="77"/>
              </a:rPr>
              <a:t>Ingénieur civil des Mines de Nancy, Mathurin est spécialisé en mathématiques financières. Il possède également de solides compétences informatiques.
</a:t>
            </a: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  <a:p>
            <a:pPr algn="just">
              <a:lnSpc>
                <a:spcPts val="1700"/>
              </a:lnSpc>
            </a:pP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  <a:p>
            <a:pPr algn="just">
              <a:lnSpc>
                <a:spcPts val="1700"/>
              </a:lnSpc>
            </a:pPr>
            <a:r>
              <a:rPr lang="fr-FR" sz="1050" dirty="0">
                <a:solidFill>
                  <a:schemeClr val="tx1"/>
                </a:solidFill>
                <a:latin typeface="Satoshi" pitchFamily="2" charset="77"/>
              </a:rPr>
              <a:t>Familier des secteurs de la recherche, comme du conseil en entreprise, Mathurin possède un large panel de compétence, qui lui permet de s'intégrer facilement dans toutes sortes de projets techniques.</a:t>
            </a:r>
          </a:p>
          <a:p>
            <a:pPr algn="just">
              <a:lnSpc>
                <a:spcPts val="1700"/>
              </a:lnSpc>
            </a:pP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  <a:p>
            <a:pPr algn="just">
              <a:lnSpc>
                <a:spcPts val="1700"/>
              </a:lnSpc>
            </a:pPr>
            <a:r>
              <a:rPr lang="fr-FR" sz="1050" dirty="0">
                <a:solidFill>
                  <a:schemeClr val="tx1"/>
                </a:solidFill>
                <a:latin typeface="Satoshi" pitchFamily="2" charset="77"/>
              </a:rPr>
              <a:t>Il intervien sur tout les métiers de la data : Data Engineer, Data Modelist, Data Scientist. Il peut également effectuer du calcul stochastique.
</a:t>
            </a:r>
            <a:endParaRPr lang="fr-FR" sz="1050" dirty="0">
              <a:solidFill>
                <a:schemeClr val="tx1"/>
              </a:solidFill>
              <a:effectLst/>
              <a:latin typeface="Satoshi" pitchFamily="2" charset="77"/>
            </a:endParaRP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2A7C6C65-1C52-CC93-1529-1D5AB41C80BF}"/>
              </a:ext>
            </a:extLst>
          </p:cNvPr>
          <p:cNvSpPr/>
          <p:nvPr/>
        </p:nvSpPr>
        <p:spPr>
          <a:xfrm>
            <a:off x="2330777" y="5265978"/>
            <a:ext cx="1864616" cy="1409769"/>
          </a:xfrm>
          <a:prstGeom prst="roundRect">
            <a:avLst>
              <a:gd name="adj" fmla="val 8470"/>
            </a:avLst>
          </a:pr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    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Certifications</a:t>
            </a:r>
            <a:br>
              <a:rPr kumimoji="0" lang="fr-FR" sz="5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</a:br>
            <a:endParaRPr kumimoji="0" lang="fr-FR" sz="5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Satoshi" pitchFamily="2" charset="77"/>
              <a:ea typeface="+mn-ea"/>
              <a:cs typeface="+mn-cs"/>
            </a:endParaRP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Certification IELTS : C1</a:t>
            </a: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Satoshi" pitchFamily="2" charset="77"/>
                <a:ea typeface="+mn-ea"/>
                <a:cs typeface="+mn-cs"/>
              </a:rPr>
              <a:t>Certification Goethe (Allemand) : B1</a:t>
            </a:r>
          </a:p>
          <a:p>
            <a:pPr marL="185738" marR="0" lvl="0" indent="-185738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050" dirty="0">
                <a:solidFill>
                  <a:srgbClr val="414141"/>
                </a:solidFill>
                <a:latin typeface="Satoshi" pitchFamily="2" charset="77"/>
              </a:rPr>
              <a:t>Permis B2</a:t>
            </a:r>
          </a:p>
          <a:p>
            <a:pPr marL="185738" indent="-185738">
              <a:buFont typeface="Arial" panose="020B0604020202020204" pitchFamily="34" charset="0"/>
              <a:buChar char="•"/>
              <a:defRPr/>
            </a:pPr>
            <a:endParaRPr lang="fr-FR" sz="1050" dirty="0">
              <a:solidFill>
                <a:srgbClr val="414141"/>
              </a:solidFill>
              <a:latin typeface="Satoshi" pitchFamily="2" charset="77"/>
            </a:endParaRPr>
          </a:p>
        </p:txBody>
      </p:sp>
      <p:pic>
        <p:nvPicPr>
          <p:cNvPr id="67" name="Image 66">
            <a:extLst>
              <a:ext uri="{FF2B5EF4-FFF2-40B4-BE49-F238E27FC236}">
                <a16:creationId xmlns:a16="http://schemas.microsoft.com/office/drawing/2014/main" id="{6A064F35-4CDF-2E8F-9FF9-802F72BD9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037" y="5378309"/>
            <a:ext cx="216973" cy="216973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1AC08319-CB42-C27B-F6AC-0454EB844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99" y="5378310"/>
            <a:ext cx="216973" cy="216973"/>
          </a:xfrm>
          <a:prstGeom prst="rect">
            <a:avLst/>
          </a:prstGeom>
        </p:spPr>
      </p:pic>
      <p:sp>
        <p:nvSpPr>
          <p:cNvPr id="75" name="ZoneTexte 74">
            <a:extLst>
              <a:ext uri="{FF2B5EF4-FFF2-40B4-BE49-F238E27FC236}">
                <a16:creationId xmlns:a16="http://schemas.microsoft.com/office/drawing/2014/main" id="{1C30A53C-41A4-C3BF-2C04-9DB8EE655F31}"/>
              </a:ext>
            </a:extLst>
          </p:cNvPr>
          <p:cNvSpPr txBox="1"/>
          <p:nvPr/>
        </p:nvSpPr>
        <p:spPr>
          <a:xfrm>
            <a:off x="6763882" y="-10820"/>
            <a:ext cx="7618244" cy="285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7988" marR="0" lvl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endParaRPr lang="fr-FR" sz="1000" dirty="0">
              <a:solidFill>
                <a:srgbClr val="575757"/>
              </a:solidFill>
              <a:latin typeface="Satoshi" pitchFamily="2" charset="77"/>
            </a:endParaRPr>
          </a:p>
        </p:txBody>
      </p: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8464B4D7-6F9B-B7BD-0C24-E1AFA24EB32F}"/>
              </a:ext>
            </a:extLst>
          </p:cNvPr>
          <p:cNvGrpSpPr/>
          <p:nvPr/>
        </p:nvGrpSpPr>
        <p:grpSpPr>
          <a:xfrm>
            <a:off x="4592220" y="84279"/>
            <a:ext cx="3316461" cy="307777"/>
            <a:chOff x="4644767" y="2786465"/>
            <a:chExt cx="3316461" cy="307777"/>
          </a:xfrm>
        </p:grpSpPr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3A59920D-3B85-271C-7B01-F238D32E7934}"/>
                </a:ext>
              </a:extLst>
            </p:cNvPr>
            <p:cNvSpPr txBox="1"/>
            <p:nvPr/>
          </p:nvSpPr>
          <p:spPr>
            <a:xfrm>
              <a:off x="4892405" y="2786465"/>
              <a:ext cx="30688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fr-F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14141"/>
                  </a:solidFill>
                  <a:effectLst/>
                  <a:uLnTx/>
                  <a:uFillTx/>
                  <a:latin typeface="Satoshi" pitchFamily="2" charset="77"/>
                  <a:ea typeface="+mn-ea"/>
                  <a:cs typeface="+mn-cs"/>
                </a:rPr>
                <a:t>Expériences principales</a:t>
              </a:r>
              <a:endParaRPr lang="en-GB" sz="1600" dirty="0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AEB091A4-577E-3519-74CB-EB4FB7D31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4767" y="2815812"/>
              <a:ext cx="216973" cy="216973"/>
            </a:xfrm>
            <a:prstGeom prst="rect">
              <a:avLst/>
            </a:prstGeom>
          </p:spPr>
        </p:pic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B4EAAB86-29A0-78FD-C392-D2935720BC01}"/>
              </a:ext>
            </a:extLst>
          </p:cNvPr>
          <p:cNvSpPr txBox="1"/>
          <p:nvPr/>
        </p:nvSpPr>
        <p:spPr>
          <a:xfrm>
            <a:off x="4040337" y="385668"/>
            <a:ext cx="7962544" cy="658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Isskar – Stagiaire Data Engineer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Participation à la veille technique de l'entreprise, et assistance sur la mission de Mr Salha chez Air France.
Développement des sites web des entreprises du groupe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Stage – temps plein (6 mois), Paris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Développement site Groupe Kanbios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Développement site Obea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Codes spill despill pour AirFrance</a:t>
            </a: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Liebherr Aerospace – Stagiaire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Inventaire des outillages d'une unité de production de climatiseurs pour avions civils.
Optimisation des outillages.
Gestion des stocks</a:t>
            </a:r>
          </a:p>
          <a:p>
            <a:pPr marL="407988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Stage – temps plein (1 mois), Toulouse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Inventaire des outillages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Optimisation espace de travail</a:t>
            </a: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Gestion des stocks</a:t>
            </a: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Plage Bonaventure – Salarié polyvalent</a:t>
            </a:r>
          </a:p>
          <a:p>
            <a:pPr marL="407988" lvl="0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Installation et débarrassage de la zone d'accueil des clients, service, ménage. Gestion du mobilier, réparation des chaises cassées.</a:t>
            </a:r>
          </a:p>
          <a:p>
            <a:pPr marL="407988" lvl="0">
              <a:lnSpc>
                <a:spcPts val="1600"/>
              </a:lnSpc>
              <a:defRPr/>
            </a:pPr>
            <a:r>
              <a:rPr lang="fr-FR" sz="1000" dirty="0">
                <a:solidFill>
                  <a:srgbClr val="414141"/>
                </a:solidFill>
                <a:latin typeface="Satoshi" pitchFamily="2" charset="77"/>
              </a:rPr>
              <a:t>Stage – 52h/semaine (1 mois), Palavas-les-flots</a:t>
            </a:r>
          </a:p>
          <a:p>
            <a:pPr marL="579438" lvl="0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575757"/>
                </a:solidFill>
                <a:latin typeface="Satoshi" pitchFamily="2" charset="77"/>
              </a:rPr>
              <a:t>Mise en place des transats</a:t>
            </a:r>
          </a:p>
          <a:p>
            <a:pPr marL="579438" lvl="0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575757"/>
                </a:solidFill>
                <a:latin typeface="Satoshi" pitchFamily="2" charset="77"/>
              </a:rPr>
              <a:t>Service</a:t>
            </a:r>
          </a:p>
          <a:p>
            <a:pPr marL="579438" lvl="0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r>
              <a:rPr lang="fr-FR" sz="1000" dirty="0">
                <a:solidFill>
                  <a:srgbClr val="575757"/>
                </a:solidFill>
                <a:latin typeface="Satoshi" pitchFamily="2" charset="77"/>
              </a:rPr>
              <a:t>Ménage</a:t>
            </a: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 lvl="0">
              <a:lnSpc>
                <a:spcPts val="1400"/>
              </a:lnSpc>
              <a:defRPr/>
            </a:pPr>
            <a:endParaRPr lang="fr-FR" sz="10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>
              <a:lnSpc>
                <a:spcPts val="1700"/>
              </a:lnSpc>
              <a:spcAft>
                <a:spcPts val="300"/>
              </a:spcAft>
              <a:defRPr/>
            </a:pPr>
            <a:r>
              <a:rPr lang="fr-FR" sz="1300" b="1" dirty="0">
                <a:solidFill>
                  <a:srgbClr val="414141"/>
                </a:solidFill>
                <a:latin typeface="Satoshi" pitchFamily="2" charset="77"/>
              </a:rPr>
              <a:t> – </a:t>
            </a:r>
          </a:p>
          <a:p>
            <a:pPr marL="407988">
              <a:lnSpc>
                <a:spcPts val="1600"/>
              </a:lnSpc>
              <a:defRPr/>
            </a:pPr>
            <a:endParaRPr lang="fr-FR" sz="1300" b="1" dirty="0">
              <a:solidFill>
                <a:srgbClr val="414141"/>
              </a:solidFill>
              <a:latin typeface="Satoshi" pitchFamily="2" charset="77"/>
            </a:endParaRPr>
          </a:p>
          <a:p>
            <a:pPr marL="407988">
              <a:lnSpc>
                <a:spcPts val="1600"/>
              </a:lnSpc>
              <a:defRPr/>
            </a:pPr>
            <a:endParaRPr lang="fr-FR" sz="1300" b="1" dirty="0">
              <a:solidFill>
                <a:srgbClr val="414141"/>
              </a:solidFill>
              <a:latin typeface="Satoshi" pitchFamily="2" charset="77"/>
            </a:endParaRP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endParaRPr lang="fr-FR" sz="1300" b="1" dirty="0">
              <a:solidFill>
                <a:srgbClr val="414141"/>
              </a:solidFill>
              <a:latin typeface="Satoshi" pitchFamily="2" charset="77"/>
            </a:endParaRP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endParaRPr lang="fr-FR" sz="1300" b="1" dirty="0">
              <a:solidFill>
                <a:srgbClr val="414141"/>
              </a:solidFill>
              <a:latin typeface="Satoshi" pitchFamily="2" charset="77"/>
            </a:endParaRPr>
          </a:p>
          <a:p>
            <a:pPr marL="579438" indent="-171450">
              <a:lnSpc>
                <a:spcPts val="1400"/>
              </a:lnSpc>
              <a:buFont typeface="Arial" panose="020B0604020202020204" pitchFamily="34" charset="0"/>
              <a:buChar char="•"/>
              <a:defRPr/>
            </a:pPr>
            <a:endParaRPr lang="fr-FR" sz="1300" b="1" dirty="0">
              <a:solidFill>
                <a:srgbClr val="414141"/>
              </a:solidFill>
              <a:latin typeface="Satoshi" pitchFamily="2" charset="77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47188B0-D98D-63F2-5D8E-2552DD519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7243" y="1169998"/>
            <a:ext cx="192567" cy="192567"/>
          </a:xfrm>
          <a:prstGeom prst="rect">
            <a:avLst/>
          </a:prstGeom>
        </p:spPr>
      </p:pic>
      <p:pic>
        <p:nvPicPr>
          <p:cNvPr id="93" name="Picture 92" descr="tmpfn3x1x0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3259484" cy="183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61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7D460C113EC84AAE00DFA3490DF26A" ma:contentTypeVersion="17" ma:contentTypeDescription="Crée un document." ma:contentTypeScope="" ma:versionID="df9aab9dced122f4d0fdfd5c061969ab">
  <xsd:schema xmlns:xsd="http://www.w3.org/2001/XMLSchema" xmlns:xs="http://www.w3.org/2001/XMLSchema" xmlns:p="http://schemas.microsoft.com/office/2006/metadata/properties" xmlns:ns2="c60db47a-935d-49bf-8d3d-24164fa1b4c4" xmlns:ns3="cb9cc54f-e898-4014-a90b-87a614dc2c05" targetNamespace="http://schemas.microsoft.com/office/2006/metadata/properties" ma:root="true" ma:fieldsID="355af32aa646a47fe82d6520bcc91d29" ns2:_="" ns3:_="">
    <xsd:import namespace="c60db47a-935d-49bf-8d3d-24164fa1b4c4"/>
    <xsd:import namespace="cb9cc54f-e898-4014-a90b-87a614dc2c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0db47a-935d-49bf-8d3d-24164fa1b4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eebc8f69-2cef-4a53-8d3e-fb3a533c2e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9cc54f-e898-4014-a90b-87a614dc2c0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8ebbe42-7506-43b0-aa02-c1ae367fa4e2}" ma:internalName="TaxCatchAll" ma:showField="CatchAllData" ma:web="cb9cc54f-e898-4014-a90b-87a614dc2c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0db47a-935d-49bf-8d3d-24164fa1b4c4">
      <Terms xmlns="http://schemas.microsoft.com/office/infopath/2007/PartnerControls"/>
    </lcf76f155ced4ddcb4097134ff3c332f>
    <TaxCatchAll xmlns="cb9cc54f-e898-4014-a90b-87a614dc2c05" xsi:nil="true"/>
  </documentManagement>
</p:properties>
</file>

<file path=customXml/itemProps1.xml><?xml version="1.0" encoding="utf-8"?>
<ds:datastoreItem xmlns:ds="http://schemas.openxmlformats.org/officeDocument/2006/customXml" ds:itemID="{611C823C-3BAD-42C9-8371-A939C5D92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B54413-0F15-408D-A20C-12EBF31DE3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0db47a-935d-49bf-8d3d-24164fa1b4c4"/>
    <ds:schemaRef ds:uri="cb9cc54f-e898-4014-a90b-87a614dc2c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8B15DC-1DAD-4010-AF98-46416BFDBCC3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cb9cc54f-e898-4014-a90b-87a614dc2c05"/>
    <ds:schemaRef ds:uri="c60db47a-935d-49bf-8d3d-24164fa1b4c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Grand écran</PresentationFormat>
  <Paragraphs>51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Satoshi</vt:lpstr>
      <vt:lpstr>Satoshi Regular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Mathurin MEYRUEY</cp:lastModifiedBy>
  <cp:revision>31</cp:revision>
  <dcterms:created xsi:type="dcterms:W3CDTF">2023-04-14T15:43:38Z</dcterms:created>
  <dcterms:modified xsi:type="dcterms:W3CDTF">2026-08-20T14:51:06Z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0x010100DE7D460C113EC84AAE00DFA3490DF26A</vt:lpwstr>
  </property>
  <property fmtid="{D5CDD505-2E9C-101B-9397-08002B2CF9AE}" pid="3" name="MediaServiceImageTags">
    <vt:lpwstr/>
  </property>
</Properties>
</file>